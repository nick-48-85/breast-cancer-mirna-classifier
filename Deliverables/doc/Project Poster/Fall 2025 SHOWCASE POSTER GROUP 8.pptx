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6"/>
  </p:notesMasterIdLst>
  <p:sldIdLst>
    <p:sldId id="268" r:id="rId5"/>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7E5D8-6250-45DF-AFC2-6A10AFBF1409}" v="43" dt="2025-11-03T23:10:48.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08"/>
    <p:restoredTop sz="94680"/>
  </p:normalViewPr>
  <p:slideViewPr>
    <p:cSldViewPr snapToGrid="0" snapToObjects="1">
      <p:cViewPr varScale="1">
        <p:scale>
          <a:sx n="16" d="100"/>
          <a:sy n="16" d="100"/>
        </p:scale>
        <p:origin x="1925" y="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a Baro Villa" userId="67a94cae-1fc9-4df6-b5ef-a625656e99ed" providerId="ADAL" clId="{220EC3BC-A61D-4C2A-9580-0D396A49A061}"/>
    <pc:docChg chg="undo custSel addSld delSld modSld">
      <pc:chgData name="Anika Baro Villa" userId="67a94cae-1fc9-4df6-b5ef-a625656e99ed" providerId="ADAL" clId="{220EC3BC-A61D-4C2A-9580-0D396A49A061}" dt="2025-11-04T01:15:47.960" v="210" actId="20577"/>
      <pc:docMkLst>
        <pc:docMk/>
      </pc:docMkLst>
      <pc:sldChg chg="addSp modSp add del mod">
        <pc:chgData name="Anika Baro Villa" userId="67a94cae-1fc9-4df6-b5ef-a625656e99ed" providerId="ADAL" clId="{220EC3BC-A61D-4C2A-9580-0D396A49A061}" dt="2025-11-03T04:49:40.659" v="160" actId="47"/>
        <pc:sldMkLst>
          <pc:docMk/>
          <pc:sldMk cId="2438216132" sldId="260"/>
        </pc:sldMkLst>
      </pc:sldChg>
      <pc:sldChg chg="modSp add del mod">
        <pc:chgData name="Anika Baro Villa" userId="67a94cae-1fc9-4df6-b5ef-a625656e99ed" providerId="ADAL" clId="{220EC3BC-A61D-4C2A-9580-0D396A49A061}" dt="2025-11-03T06:39:48.893" v="164" actId="47"/>
        <pc:sldMkLst>
          <pc:docMk/>
          <pc:sldMk cId="3855107078" sldId="262"/>
        </pc:sldMkLst>
      </pc:sldChg>
      <pc:sldChg chg="add del">
        <pc:chgData name="Anika Baro Villa" userId="67a94cae-1fc9-4df6-b5ef-a625656e99ed" providerId="ADAL" clId="{220EC3BC-A61D-4C2A-9580-0D396A49A061}" dt="2025-11-03T04:49:39.734" v="159" actId="47"/>
        <pc:sldMkLst>
          <pc:docMk/>
          <pc:sldMk cId="1365164356" sldId="263"/>
        </pc:sldMkLst>
      </pc:sldChg>
      <pc:sldChg chg="add del">
        <pc:chgData name="Anika Baro Villa" userId="67a94cae-1fc9-4df6-b5ef-a625656e99ed" providerId="ADAL" clId="{220EC3BC-A61D-4C2A-9580-0D396A49A061}" dt="2025-11-03T04:49:39.003" v="158" actId="47"/>
        <pc:sldMkLst>
          <pc:docMk/>
          <pc:sldMk cId="2874680311" sldId="264"/>
        </pc:sldMkLst>
      </pc:sldChg>
      <pc:sldChg chg="add del">
        <pc:chgData name="Anika Baro Villa" userId="67a94cae-1fc9-4df6-b5ef-a625656e99ed" providerId="ADAL" clId="{220EC3BC-A61D-4C2A-9580-0D396A49A061}" dt="2025-11-03T04:50:45.613" v="162" actId="47"/>
        <pc:sldMkLst>
          <pc:docMk/>
          <pc:sldMk cId="3919769680" sldId="265"/>
        </pc:sldMkLst>
      </pc:sldChg>
      <pc:sldChg chg="add del">
        <pc:chgData name="Anika Baro Villa" userId="67a94cae-1fc9-4df6-b5ef-a625656e99ed" providerId="ADAL" clId="{220EC3BC-A61D-4C2A-9580-0D396A49A061}" dt="2025-11-03T08:27:49.267" v="170" actId="47"/>
        <pc:sldMkLst>
          <pc:docMk/>
          <pc:sldMk cId="831593204" sldId="266"/>
        </pc:sldMkLst>
      </pc:sldChg>
      <pc:sldChg chg="add del">
        <pc:chgData name="Anika Baro Villa" userId="67a94cae-1fc9-4df6-b5ef-a625656e99ed" providerId="ADAL" clId="{220EC3BC-A61D-4C2A-9580-0D396A49A061}" dt="2025-11-03T07:13:02.418" v="168" actId="47"/>
        <pc:sldMkLst>
          <pc:docMk/>
          <pc:sldMk cId="683937898" sldId="267"/>
        </pc:sldMkLst>
      </pc:sldChg>
      <pc:sldChg chg="modSp add del mod">
        <pc:chgData name="Anika Baro Villa" userId="67a94cae-1fc9-4df6-b5ef-a625656e99ed" providerId="ADAL" clId="{220EC3BC-A61D-4C2A-9580-0D396A49A061}" dt="2025-11-03T23:11:21.652" v="208" actId="47"/>
        <pc:sldMkLst>
          <pc:docMk/>
          <pc:sldMk cId="1841057831" sldId="267"/>
        </pc:sldMkLst>
        <pc:spChg chg="mod">
          <ac:chgData name="Anika Baro Villa" userId="67a94cae-1fc9-4df6-b5ef-a625656e99ed" providerId="ADAL" clId="{220EC3BC-A61D-4C2A-9580-0D396A49A061}" dt="2025-11-03T08:30:05.549" v="187" actId="1035"/>
          <ac:spMkLst>
            <pc:docMk/>
            <pc:sldMk cId="1841057831" sldId="267"/>
            <ac:spMk id="35" creationId="{06AF2CD4-5FFE-8DD9-115B-0AFAD571B6DF}"/>
          </ac:spMkLst>
        </pc:spChg>
        <pc:spChg chg="mod">
          <ac:chgData name="Anika Baro Villa" userId="67a94cae-1fc9-4df6-b5ef-a625656e99ed" providerId="ADAL" clId="{220EC3BC-A61D-4C2A-9580-0D396A49A061}" dt="2025-11-03T08:30:05.549" v="187" actId="1035"/>
          <ac:spMkLst>
            <pc:docMk/>
            <pc:sldMk cId="1841057831" sldId="267"/>
            <ac:spMk id="36" creationId="{7B5458EC-2522-006E-0756-4CFEA110D6C5}"/>
          </ac:spMkLst>
        </pc:spChg>
        <pc:spChg chg="mod">
          <ac:chgData name="Anika Baro Villa" userId="67a94cae-1fc9-4df6-b5ef-a625656e99ed" providerId="ADAL" clId="{220EC3BC-A61D-4C2A-9580-0D396A49A061}" dt="2025-11-03T08:29:58.501" v="183" actId="1036"/>
          <ac:spMkLst>
            <pc:docMk/>
            <pc:sldMk cId="1841057831" sldId="267"/>
            <ac:spMk id="38" creationId="{1F96862B-1823-A3D3-CC11-BFD32D73EDA6}"/>
          </ac:spMkLst>
        </pc:spChg>
        <pc:spChg chg="mod">
          <ac:chgData name="Anika Baro Villa" userId="67a94cae-1fc9-4df6-b5ef-a625656e99ed" providerId="ADAL" clId="{220EC3BC-A61D-4C2A-9580-0D396A49A061}" dt="2025-11-03T08:29:58.501" v="183" actId="1036"/>
          <ac:spMkLst>
            <pc:docMk/>
            <pc:sldMk cId="1841057831" sldId="267"/>
            <ac:spMk id="39" creationId="{A1AD5B4F-EF58-6FB4-8CB9-A635C225219E}"/>
          </ac:spMkLst>
        </pc:spChg>
        <pc:picChg chg="mod">
          <ac:chgData name="Anika Baro Villa" userId="67a94cae-1fc9-4df6-b5ef-a625656e99ed" providerId="ADAL" clId="{220EC3BC-A61D-4C2A-9580-0D396A49A061}" dt="2025-11-03T08:31:09.065" v="206" actId="1035"/>
          <ac:picMkLst>
            <pc:docMk/>
            <pc:sldMk cId="1841057831" sldId="267"/>
            <ac:picMk id="6" creationId="{B382F9E2-B039-39C6-B773-BAEBA5C60497}"/>
          </ac:picMkLst>
        </pc:picChg>
      </pc:sldChg>
      <pc:sldChg chg="modSp add mod">
        <pc:chgData name="Anika Baro Villa" userId="67a94cae-1fc9-4df6-b5ef-a625656e99ed" providerId="ADAL" clId="{220EC3BC-A61D-4C2A-9580-0D396A49A061}" dt="2025-11-04T01:15:47.960" v="210" actId="20577"/>
        <pc:sldMkLst>
          <pc:docMk/>
          <pc:sldMk cId="1335996599" sldId="268"/>
        </pc:sldMkLst>
        <pc:spChg chg="mod">
          <ac:chgData name="Anika Baro Villa" userId="67a94cae-1fc9-4df6-b5ef-a625656e99ed" providerId="ADAL" clId="{220EC3BC-A61D-4C2A-9580-0D396A49A061}" dt="2025-11-04T01:15:47.960" v="210" actId="20577"/>
          <ac:spMkLst>
            <pc:docMk/>
            <pc:sldMk cId="1335996599" sldId="268"/>
            <ac:spMk id="20" creationId="{3EDAE91A-44CC-492A-4595-F23CAB2158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11/30/2025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44A7E-167D-3D6B-E3F5-793A2FEBC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0F97CF-D1C6-F79E-0973-A7FEB3F5B01C}"/>
              </a:ext>
            </a:extLst>
          </p:cNvPr>
          <p:cNvSpPr>
            <a:spLocks noGrp="1" noRot="1" noChangeAspect="1"/>
          </p:cNvSpPr>
          <p:nvPr>
            <p:ph type="sldImg"/>
          </p:nvPr>
        </p:nvSpPr>
        <p:spPr>
          <a:xfrm>
            <a:off x="1371600" y="1143000"/>
            <a:ext cx="4114800" cy="3086100"/>
          </a:xfrm>
        </p:spPr>
        <p:txBody>
          <a:bodyPr/>
          <a:lstStyle/>
          <a:p>
            <a:endParaRPr lang="en-US"/>
          </a:p>
        </p:txBody>
      </p:sp>
      <p:sp>
        <p:nvSpPr>
          <p:cNvPr id="3" name="Notes Placeholder 2">
            <a:extLst>
              <a:ext uri="{FF2B5EF4-FFF2-40B4-BE49-F238E27FC236}">
                <a16:creationId xmlns:a16="http://schemas.microsoft.com/office/drawing/2014/main" id="{C5A2F710-998D-4F28-A5C8-51B1444A27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2A3B0A-CD19-4D61-7B50-EEA8C34EB161}"/>
              </a:ext>
            </a:extLst>
          </p:cNvPr>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737912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dirty="0"/>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4" y="478769"/>
            <a:ext cx="9597415" cy="846354"/>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latin typeface="Lato" panose="020F0502020204030203" pitchFamily="34" charset="0"/>
                <a:ea typeface="Lato" panose="020F0502020204030203" pitchFamily="34" charset="0"/>
                <a:cs typeface="Lato" panose="020F0502020204030203" pitchFamily="34" charset="0"/>
              </a:rPr>
              <a:t>Faculty Course Coordinator</a:t>
            </a:r>
            <a:endParaRPr lang="en-US" sz="1440" dirty="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066870" y="3445468"/>
            <a:ext cx="6883593" cy="899718"/>
          </a:xfrm>
          <a:prstGeom prst="rect">
            <a:avLst/>
          </a:prstGeom>
        </p:spPr>
        <p:txBody>
          <a:bodyPr>
            <a:noAutofit/>
          </a:bodyPr>
          <a:lstStyle>
            <a:lvl1pPr marL="0" indent="0" algn="r">
              <a:buNone/>
              <a:defRPr sz="864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latin typeface="Lato" panose="020F0502020204030203" pitchFamily="34" charset="0"/>
              <a:ea typeface="Lato" panose="020F0502020204030203" pitchFamily="34" charset="0"/>
              <a:cs typeface="Lato" panose="020F0502020204030203" pitchFamily="34" charset="0"/>
            </a:endParaRPr>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t>
            </a:r>
            <a:r>
              <a:rPr lang="en-US" sz="4320" dirty="0">
                <a:latin typeface="Lato" panose="020F0502020204030203" pitchFamily="34" charset="0"/>
                <a:ea typeface="Lato" panose="020F0502020204030203" pitchFamily="34" charset="0"/>
                <a:cs typeface="Lato" panose="020F0502020204030203" pitchFamily="34" charset="0"/>
              </a:rPr>
              <a:t>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dirty="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2025</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2121E-E0E9-14E2-E0A9-A4447EDDB1E2}"/>
            </a:ext>
          </a:extLst>
        </p:cNvPr>
        <p:cNvGrpSpPr/>
        <p:nvPr/>
      </p:nvGrpSpPr>
      <p:grpSpPr>
        <a:xfrm>
          <a:off x="0" y="0"/>
          <a:ext cx="0" cy="0"/>
          <a:chOff x="0" y="0"/>
          <a:chExt cx="0" cy="0"/>
        </a:xfrm>
      </p:grpSpPr>
      <p:sp>
        <p:nvSpPr>
          <p:cNvPr id="11" name="Subtitle 10">
            <a:extLst>
              <a:ext uri="{FF2B5EF4-FFF2-40B4-BE49-F238E27FC236}">
                <a16:creationId xmlns:a16="http://schemas.microsoft.com/office/drawing/2014/main" id="{6D1F0203-494A-9C28-D78F-B4176D6AAB83}"/>
              </a:ext>
            </a:extLst>
          </p:cNvPr>
          <p:cNvSpPr>
            <a:spLocks noGrp="1"/>
          </p:cNvSpPr>
          <p:nvPr>
            <p:ph type="body" sz="quarter" idx="14"/>
          </p:nvPr>
        </p:nvSpPr>
        <p:spPr>
          <a:xfrm>
            <a:off x="1670604" y="2572674"/>
            <a:ext cx="11395716" cy="1431180"/>
          </a:xfrm>
        </p:spPr>
        <p:txBody>
          <a:bodyPr>
            <a:normAutofit fontScale="92500" lnSpcReduction="10000"/>
          </a:bodyPr>
          <a:lstStyle/>
          <a:p>
            <a:pPr>
              <a:lnSpc>
                <a:spcPct val="120000"/>
              </a:lnSpc>
              <a:spcBef>
                <a:spcPts val="0"/>
              </a:spcBef>
            </a:pPr>
            <a:r>
              <a:rPr lang="en-US" dirty="0">
                <a:solidFill>
                  <a:schemeClr val="bg1"/>
                </a:solidFill>
              </a:rPr>
              <a:t>EGN 4952C</a:t>
            </a:r>
          </a:p>
          <a:p>
            <a:pPr>
              <a:lnSpc>
                <a:spcPct val="120000"/>
              </a:lnSpc>
              <a:spcBef>
                <a:spcPts val="0"/>
              </a:spcBef>
            </a:pPr>
            <a:r>
              <a:rPr lang="en-US" dirty="0">
                <a:solidFill>
                  <a:schemeClr val="bg1"/>
                </a:solidFill>
              </a:rPr>
              <a:t>Electrical Engineering &amp; Computer S</a:t>
            </a:r>
            <a:r>
              <a:rPr lang="en-US" dirty="0"/>
              <a:t>cience</a:t>
            </a:r>
            <a:endParaRPr lang="en-US" dirty="0">
              <a:solidFill>
                <a:schemeClr val="bg1"/>
              </a:solidFill>
            </a:endParaRPr>
          </a:p>
        </p:txBody>
      </p:sp>
      <p:sp>
        <p:nvSpPr>
          <p:cNvPr id="10" name="Title 9">
            <a:extLst>
              <a:ext uri="{FF2B5EF4-FFF2-40B4-BE49-F238E27FC236}">
                <a16:creationId xmlns:a16="http://schemas.microsoft.com/office/drawing/2014/main" id="{F42A6ED8-ED5A-739A-F15F-C3E767C6E212}"/>
              </a:ext>
            </a:extLst>
          </p:cNvPr>
          <p:cNvSpPr>
            <a:spLocks noGrp="1"/>
          </p:cNvSpPr>
          <p:nvPr>
            <p:ph type="ctrTitle" idx="4294967295"/>
          </p:nvPr>
        </p:nvSpPr>
        <p:spPr>
          <a:xfrm>
            <a:off x="1626276" y="581016"/>
            <a:ext cx="11484372" cy="1646232"/>
          </a:xfrm>
          <a:prstGeom prst="rect">
            <a:avLst/>
          </a:prstGeom>
        </p:spPr>
        <p:txBody>
          <a:bodyPr>
            <a:noAutofit/>
          </a:bodyPr>
          <a:lstStyle/>
          <a:p>
            <a:pPr algn="l"/>
            <a:r>
              <a:rPr lang="en-US" sz="6600" b="1" dirty="0">
                <a:solidFill>
                  <a:schemeClr val="bg1"/>
                </a:solidFill>
                <a:latin typeface="Lato" panose="020F0502020204030203" pitchFamily="34" charset="0"/>
                <a:ea typeface="Lato" panose="020F0502020204030203" pitchFamily="34" charset="0"/>
                <a:cs typeface="Lato" panose="020F0502020204030203" pitchFamily="34" charset="0"/>
              </a:rPr>
              <a:t>Breast Cancer Stage Classification with miRNA  </a:t>
            </a:r>
          </a:p>
        </p:txBody>
      </p:sp>
      <p:sp>
        <p:nvSpPr>
          <p:cNvPr id="12" name="Subtitle 10">
            <a:extLst>
              <a:ext uri="{FF2B5EF4-FFF2-40B4-BE49-F238E27FC236}">
                <a16:creationId xmlns:a16="http://schemas.microsoft.com/office/drawing/2014/main" id="{F787D334-CF79-38F2-533B-CF5ECA6740DB}"/>
              </a:ext>
            </a:extLst>
          </p:cNvPr>
          <p:cNvSpPr txBox="1">
            <a:spLocks/>
          </p:cNvSpPr>
          <p:nvPr/>
        </p:nvSpPr>
        <p:spPr>
          <a:xfrm>
            <a:off x="14714196" y="60783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CFFDC23D-3C97-792C-262C-26145A50CD7D}"/>
              </a:ext>
            </a:extLst>
          </p:cNvPr>
          <p:cNvSpPr txBox="1">
            <a:spLocks/>
          </p:cNvSpPr>
          <p:nvPr/>
        </p:nvSpPr>
        <p:spPr>
          <a:xfrm>
            <a:off x="14714202" y="1395146"/>
            <a:ext cx="6701244" cy="333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sz="3240" dirty="0">
                <a:solidFill>
                  <a:schemeClr val="bg1"/>
                </a:solidFill>
                <a:latin typeface="Lato" panose="020F0502020204030203" pitchFamily="34" charset="0"/>
                <a:ea typeface="Lato" panose="020F0502020204030203" pitchFamily="34" charset="0"/>
                <a:cs typeface="Lato" panose="020F0502020204030203" pitchFamily="34" charset="0"/>
              </a:rPr>
              <a:t>Joshua Adegboyo</a:t>
            </a:r>
            <a:br>
              <a:rPr lang="en-US" sz="3240" dirty="0">
                <a:solidFill>
                  <a:schemeClr val="bg1"/>
                </a:solidFill>
                <a:latin typeface="Lato" panose="020F0502020204030203" pitchFamily="34" charset="0"/>
                <a:ea typeface="Lato" panose="020F0502020204030203" pitchFamily="34" charset="0"/>
                <a:cs typeface="Lato" panose="020F0502020204030203" pitchFamily="34" charset="0"/>
              </a:rPr>
            </a:br>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Anika Baro Villa</a:t>
            </a:r>
            <a:b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br>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Nicholas Campos</a:t>
            </a:r>
            <a:br>
              <a:rPr lang="en-US" sz="3240" dirty="0">
                <a:solidFill>
                  <a:schemeClr val="bg1"/>
                </a:solidFill>
                <a:latin typeface="Lato" panose="020F0502020204030203" pitchFamily="34" charset="0"/>
                <a:ea typeface="Lato" panose="020F0502020204030203" pitchFamily="34" charset="0"/>
                <a:cs typeface="Lato" panose="020F0502020204030203" pitchFamily="34" charset="0"/>
              </a:rPr>
            </a:br>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Brehon Parker</a:t>
            </a:r>
            <a:endParaRPr lang="en-US" sz="32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7" name="Subtitle 10">
            <a:extLst>
              <a:ext uri="{FF2B5EF4-FFF2-40B4-BE49-F238E27FC236}">
                <a16:creationId xmlns:a16="http://schemas.microsoft.com/office/drawing/2014/main" id="{072EF259-132D-5351-4348-EF734BA4217A}"/>
              </a:ext>
            </a:extLst>
          </p:cNvPr>
          <p:cNvSpPr txBox="1">
            <a:spLocks/>
          </p:cNvSpPr>
          <p:nvPr/>
        </p:nvSpPr>
        <p:spPr>
          <a:xfrm>
            <a:off x="23955004" y="3179011"/>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9109879B-2702-78BB-D894-D6DEDB448D04}"/>
              </a:ext>
            </a:extLst>
          </p:cNvPr>
          <p:cNvSpPr txBox="1">
            <a:spLocks/>
          </p:cNvSpPr>
          <p:nvPr/>
        </p:nvSpPr>
        <p:spPr>
          <a:xfrm>
            <a:off x="23955003" y="4080343"/>
            <a:ext cx="8425547" cy="971819"/>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Dr. Ali Ibrahim</a:t>
            </a:r>
            <a:endParaRPr lang="en-US" sz="216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9" name="Title 9">
            <a:extLst>
              <a:ext uri="{FF2B5EF4-FFF2-40B4-BE49-F238E27FC236}">
                <a16:creationId xmlns:a16="http://schemas.microsoft.com/office/drawing/2014/main" id="{F39E1883-9F7C-2AC2-DEDB-030CB504DF53}"/>
              </a:ext>
            </a:extLst>
          </p:cNvPr>
          <p:cNvSpPr txBox="1">
            <a:spLocks/>
          </p:cNvSpPr>
          <p:nvPr/>
        </p:nvSpPr>
        <p:spPr>
          <a:xfrm>
            <a:off x="29675574" y="576743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Problem Statement</a:t>
            </a:r>
          </a:p>
        </p:txBody>
      </p:sp>
      <p:sp>
        <p:nvSpPr>
          <p:cNvPr id="20" name="Subtitle 10">
            <a:extLst>
              <a:ext uri="{FF2B5EF4-FFF2-40B4-BE49-F238E27FC236}">
                <a16:creationId xmlns:a16="http://schemas.microsoft.com/office/drawing/2014/main" id="{3EDAE91A-44CC-492A-4595-F23CAB215891}"/>
              </a:ext>
            </a:extLst>
          </p:cNvPr>
          <p:cNvSpPr txBox="1">
            <a:spLocks/>
          </p:cNvSpPr>
          <p:nvPr/>
        </p:nvSpPr>
        <p:spPr>
          <a:xfrm>
            <a:off x="29675580" y="6707952"/>
            <a:ext cx="13480884" cy="5521044"/>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60" b="0" dirty="0">
                <a:latin typeface="Lato" panose="020F0502020204030203" pitchFamily="34" charset="0"/>
                <a:ea typeface="Lato" panose="020F0502020204030203" pitchFamily="34" charset="0"/>
                <a:cs typeface="Lato" panose="020F0502020204030203" pitchFamily="34" charset="0"/>
              </a:rPr>
              <a:t>Breast cancer staging relies on tissue biopsies and pathology. Integrating miRNA profiles could improve diagnostic accuracy without further invasive procedures. Yet high dimensionality (1,881 features), limited sample sizes, and inconsistent feature-selection outputs hinder reliable biomarker discovery. This project compares traditional, deep learning, and clustering approaches to derive stage-specific miRNA panels and assess accuracy and interpretability under imbalance and heterogeneity.</a:t>
            </a:r>
          </a:p>
        </p:txBody>
      </p:sp>
      <p:sp>
        <p:nvSpPr>
          <p:cNvPr id="26" name="Subtitle 10">
            <a:extLst>
              <a:ext uri="{FF2B5EF4-FFF2-40B4-BE49-F238E27FC236}">
                <a16:creationId xmlns:a16="http://schemas.microsoft.com/office/drawing/2014/main" id="{38E5A859-EB80-1D19-4A63-5B39B36F4A35}"/>
              </a:ext>
            </a:extLst>
          </p:cNvPr>
          <p:cNvSpPr txBox="1">
            <a:spLocks/>
          </p:cNvSpPr>
          <p:nvPr/>
        </p:nvSpPr>
        <p:spPr>
          <a:xfrm>
            <a:off x="1358600" y="3893680"/>
            <a:ext cx="10816044"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Sponsored by:  Dr. Ali Ibrahim</a:t>
            </a:r>
            <a:endParaRPr lang="en-US" sz="4320" b="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5" name="Title 9">
            <a:extLst>
              <a:ext uri="{FF2B5EF4-FFF2-40B4-BE49-F238E27FC236}">
                <a16:creationId xmlns:a16="http://schemas.microsoft.com/office/drawing/2014/main" id="{06AF2CD4-5FFE-8DD9-115B-0AFAD571B6DF}"/>
              </a:ext>
            </a:extLst>
          </p:cNvPr>
          <p:cNvSpPr txBox="1">
            <a:spLocks/>
          </p:cNvSpPr>
          <p:nvPr/>
        </p:nvSpPr>
        <p:spPr>
          <a:xfrm>
            <a:off x="29675592" y="13758402"/>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Results</a:t>
            </a:r>
          </a:p>
        </p:txBody>
      </p:sp>
      <p:sp>
        <p:nvSpPr>
          <p:cNvPr id="36" name="Subtitle 10">
            <a:extLst>
              <a:ext uri="{FF2B5EF4-FFF2-40B4-BE49-F238E27FC236}">
                <a16:creationId xmlns:a16="http://schemas.microsoft.com/office/drawing/2014/main" id="{7B5458EC-2522-006E-0756-4CFEA110D6C5}"/>
              </a:ext>
            </a:extLst>
          </p:cNvPr>
          <p:cNvSpPr txBox="1">
            <a:spLocks/>
          </p:cNvSpPr>
          <p:nvPr/>
        </p:nvSpPr>
        <p:spPr>
          <a:xfrm>
            <a:off x="29675580" y="14698914"/>
            <a:ext cx="13480884" cy="5251272"/>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60" b="0" dirty="0">
                <a:latin typeface="Lato" panose="020F0502020204030203" pitchFamily="34" charset="0"/>
                <a:ea typeface="Lato" panose="020F0502020204030203" pitchFamily="34" charset="0"/>
                <a:cs typeface="Lato" panose="020F0502020204030203" pitchFamily="34" charset="0"/>
              </a:rPr>
              <a:t>Traditional selection gave the most stable performance with compact 5–15 miRNA panels at our data scale (1,881 features and 1,209 samples). Under our evaluation (single split for Stages I–III and stratified K-fold CV for Stage IV with 15 positives), the best balanced results across methods were 61.4% (Stage I), 64.0% (Stage II), 61.7% (Stage III, clustering; low sensitivity), and 84.6% for Stage IV (AUC 0.767; sensitivity 60.0%). Deep learning rarely outperformed traditional, and clustering sometimes matched accuracy but often traded off sensitivity and specificity.</a:t>
            </a:r>
          </a:p>
        </p:txBody>
      </p:sp>
      <p:sp>
        <p:nvSpPr>
          <p:cNvPr id="38" name="Subtitle 10">
            <a:extLst>
              <a:ext uri="{FF2B5EF4-FFF2-40B4-BE49-F238E27FC236}">
                <a16:creationId xmlns:a16="http://schemas.microsoft.com/office/drawing/2014/main" id="{1F96862B-1823-A3D3-CC11-BFD32D73EDA6}"/>
              </a:ext>
            </a:extLst>
          </p:cNvPr>
          <p:cNvSpPr txBox="1">
            <a:spLocks/>
          </p:cNvSpPr>
          <p:nvPr/>
        </p:nvSpPr>
        <p:spPr>
          <a:xfrm>
            <a:off x="29734338" y="24340604"/>
            <a:ext cx="13667040" cy="6146076"/>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No single method is optimal; different selectors capture complementary signals. </a:t>
            </a:r>
          </a:p>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Traditional feature selection methods offer most balanced performance for small-sample miRNA studies.</a:t>
            </a:r>
          </a:p>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Class imbalance and stage heterogeneity strongly affect performance. </a:t>
            </a:r>
          </a:p>
          <a:p>
            <a:pPr marL="571500" indent="-571500" algn="l">
              <a:lnSpc>
                <a:spcPct val="120000"/>
              </a:lnSpc>
              <a:buFont typeface="Wingdings" panose="05000000000000000000" pitchFamily="2" charset="2"/>
              <a:buChar char="§"/>
            </a:pPr>
            <a:r>
              <a:rPr lang="en-US" sz="3960" b="0" dirty="0">
                <a:latin typeface="Lato" panose="020F0502020204030203" pitchFamily="34" charset="0"/>
                <a:ea typeface="Lato" panose="020F0502020204030203" pitchFamily="34" charset="0"/>
                <a:cs typeface="Lato" panose="020F0502020204030203" pitchFamily="34" charset="0"/>
              </a:rPr>
              <a:t>Our comparative pipeline is reusable for other cancers and biomarker studies.</a:t>
            </a:r>
          </a:p>
        </p:txBody>
      </p:sp>
      <p:sp>
        <p:nvSpPr>
          <p:cNvPr id="39" name="Title 9">
            <a:extLst>
              <a:ext uri="{FF2B5EF4-FFF2-40B4-BE49-F238E27FC236}">
                <a16:creationId xmlns:a16="http://schemas.microsoft.com/office/drawing/2014/main" id="{A1AD5B4F-EF58-6FB4-8CB9-A635C225219E}"/>
              </a:ext>
            </a:extLst>
          </p:cNvPr>
          <p:cNvSpPr txBox="1">
            <a:spLocks/>
          </p:cNvSpPr>
          <p:nvPr/>
        </p:nvSpPr>
        <p:spPr>
          <a:xfrm>
            <a:off x="29675574" y="23360894"/>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Conclusions &amp; Impact</a:t>
            </a:r>
          </a:p>
        </p:txBody>
      </p:sp>
      <p:sp>
        <p:nvSpPr>
          <p:cNvPr id="40" name="Title 9">
            <a:extLst>
              <a:ext uri="{FF2B5EF4-FFF2-40B4-BE49-F238E27FC236}">
                <a16:creationId xmlns:a16="http://schemas.microsoft.com/office/drawing/2014/main" id="{E2BF7F53-D650-BDAA-CE63-358B1C67BEB8}"/>
              </a:ext>
            </a:extLst>
          </p:cNvPr>
          <p:cNvSpPr txBox="1">
            <a:spLocks/>
          </p:cNvSpPr>
          <p:nvPr/>
        </p:nvSpPr>
        <p:spPr>
          <a:xfrm>
            <a:off x="33018130" y="2945865"/>
            <a:ext cx="2872070"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40" dirty="0">
                <a:solidFill>
                  <a:schemeClr val="bg1"/>
                </a:solidFill>
                <a:latin typeface="Lato" panose="020F0502020204030203" pitchFamily="34" charset="0"/>
                <a:ea typeface="Lato" panose="020F0502020204030203" pitchFamily="34" charset="0"/>
                <a:cs typeface="Lato" panose="020F0502020204030203" pitchFamily="34" charset="0"/>
              </a:rPr>
              <a:t>#8</a:t>
            </a:r>
          </a:p>
        </p:txBody>
      </p:sp>
      <p:sp>
        <p:nvSpPr>
          <p:cNvPr id="2" name="Subtitle 10">
            <a:extLst>
              <a:ext uri="{FF2B5EF4-FFF2-40B4-BE49-F238E27FC236}">
                <a16:creationId xmlns:a16="http://schemas.microsoft.com/office/drawing/2014/main" id="{57A9F4F5-D8AB-8113-1A6A-D639ADBFDAE9}"/>
              </a:ext>
            </a:extLst>
          </p:cNvPr>
          <p:cNvSpPr txBox="1">
            <a:spLocks/>
          </p:cNvSpPr>
          <p:nvPr/>
        </p:nvSpPr>
        <p:spPr>
          <a:xfrm>
            <a:off x="23887423" y="600767"/>
            <a:ext cx="8304791"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Faculty Course Facilitator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 name="Subtitle 10">
            <a:extLst>
              <a:ext uri="{FF2B5EF4-FFF2-40B4-BE49-F238E27FC236}">
                <a16:creationId xmlns:a16="http://schemas.microsoft.com/office/drawing/2014/main" id="{98919A1D-C1D7-5A03-69FE-EB7F9CC68594}"/>
              </a:ext>
            </a:extLst>
          </p:cNvPr>
          <p:cNvSpPr txBox="1">
            <a:spLocks/>
          </p:cNvSpPr>
          <p:nvPr/>
        </p:nvSpPr>
        <p:spPr>
          <a:xfrm>
            <a:off x="23887423" y="1502099"/>
            <a:ext cx="6701243" cy="1169012"/>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Dr. Hanqi Zhuang</a:t>
            </a:r>
          </a:p>
          <a:p>
            <a:pPr algn="l"/>
            <a:r>
              <a:rPr lang="en-US" sz="3240" b="0" dirty="0">
                <a:solidFill>
                  <a:schemeClr val="bg1"/>
                </a:solidFill>
                <a:latin typeface="Lato" panose="020F0502020204030203" pitchFamily="34" charset="0"/>
                <a:ea typeface="Lato" panose="020F0502020204030203" pitchFamily="34" charset="0"/>
                <a:cs typeface="Lato" panose="020F0502020204030203" pitchFamily="34" charset="0"/>
              </a:rPr>
              <a:t>Dr. Rabia Shahid</a:t>
            </a:r>
            <a:endParaRPr lang="en-US" sz="32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9" name="Picture Placeholder 12">
            <a:extLst>
              <a:ext uri="{FF2B5EF4-FFF2-40B4-BE49-F238E27FC236}">
                <a16:creationId xmlns:a16="http://schemas.microsoft.com/office/drawing/2014/main" id="{25CED03A-4B0D-C119-6AFD-5D3BE94F98BC}"/>
              </a:ext>
            </a:extLst>
          </p:cNvPr>
          <p:cNvPicPr>
            <a:picLocks noChangeAspect="1"/>
          </p:cNvPicPr>
          <p:nvPr/>
        </p:nvPicPr>
        <p:blipFill rotWithShape="1">
          <a:blip r:embed="rId3"/>
          <a:srcRect l="-4231" t="-2998" r="-4122" b="-3518"/>
          <a:stretch>
            <a:fillRect/>
          </a:stretch>
        </p:blipFill>
        <p:spPr bwMode="auto">
          <a:xfrm>
            <a:off x="856048" y="6825522"/>
            <a:ext cx="12318095" cy="1963136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7" descr="A graph of different colored bars&#10;&#10;AI-generated content may be incorrect.">
            <a:extLst>
              <a:ext uri="{FF2B5EF4-FFF2-40B4-BE49-F238E27FC236}">
                <a16:creationId xmlns:a16="http://schemas.microsoft.com/office/drawing/2014/main" id="{55BA8290-FEEF-40C6-DAC8-2E0504B1B3A2}"/>
              </a:ext>
            </a:extLst>
          </p:cNvPr>
          <p:cNvPicPr>
            <a:picLocks noChangeAspect="1"/>
          </p:cNvPicPr>
          <p:nvPr/>
        </p:nvPicPr>
        <p:blipFill>
          <a:blip r:embed="rId4"/>
          <a:stretch>
            <a:fillRect/>
          </a:stretch>
        </p:blipFill>
        <p:spPr>
          <a:xfrm>
            <a:off x="13315820" y="6975067"/>
            <a:ext cx="14410552" cy="9542123"/>
          </a:xfrm>
          <a:prstGeom prst="rect">
            <a:avLst/>
          </a:prstGeom>
        </p:spPr>
      </p:pic>
      <p:pic>
        <p:nvPicPr>
          <p:cNvPr id="6" name="Picture 5">
            <a:extLst>
              <a:ext uri="{FF2B5EF4-FFF2-40B4-BE49-F238E27FC236}">
                <a16:creationId xmlns:a16="http://schemas.microsoft.com/office/drawing/2014/main" id="{B382F9E2-B039-39C6-B773-BAEBA5C60497}"/>
              </a:ext>
            </a:extLst>
          </p:cNvPr>
          <p:cNvPicPr>
            <a:picLocks noChangeAspect="1"/>
          </p:cNvPicPr>
          <p:nvPr/>
        </p:nvPicPr>
        <p:blipFill>
          <a:blip r:embed="rId5"/>
          <a:srcRect b="5242"/>
          <a:stretch>
            <a:fillRect/>
          </a:stretch>
        </p:blipFill>
        <p:spPr>
          <a:xfrm>
            <a:off x="13604419" y="18042278"/>
            <a:ext cx="15210610" cy="8780122"/>
          </a:xfrm>
          <a:prstGeom prst="rect">
            <a:avLst/>
          </a:prstGeom>
        </p:spPr>
      </p:pic>
    </p:spTree>
    <p:extLst>
      <p:ext uri="{BB962C8B-B14F-4D97-AF65-F5344CB8AC3E}">
        <p14:creationId xmlns:p14="http://schemas.microsoft.com/office/powerpoint/2010/main" val="1335996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885e660-3154-479b-9d72-8fc522eb29fd">
      <Terms xmlns="http://schemas.microsoft.com/office/infopath/2007/PartnerControls"/>
    </lcf76f155ced4ddcb4097134ff3c332f>
    <TaxCatchAll xmlns="19bebb09-77ff-4d7e-bbb3-0e6a0d0ddf2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1ADFE83415AEC498AB6EC5120ABBD1F" ma:contentTypeVersion="12" ma:contentTypeDescription="Create a new document." ma:contentTypeScope="" ma:versionID="4db2129ca082d1d8b0624bb2755e8863">
  <xsd:schema xmlns:xsd="http://www.w3.org/2001/XMLSchema" xmlns:xs="http://www.w3.org/2001/XMLSchema" xmlns:p="http://schemas.microsoft.com/office/2006/metadata/properties" xmlns:ns2="a885e660-3154-479b-9d72-8fc522eb29fd" xmlns:ns3="19bebb09-77ff-4d7e-bbb3-0e6a0d0ddf26" targetNamespace="http://schemas.microsoft.com/office/2006/metadata/properties" ma:root="true" ma:fieldsID="feda021088d969ddb3b9b1a3a02dbc84" ns2:_="" ns3:_="">
    <xsd:import namespace="a885e660-3154-479b-9d72-8fc522eb29fd"/>
    <xsd:import namespace="19bebb09-77ff-4d7e-bbb3-0e6a0d0ddf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85e660-3154-479b-9d72-8fc522eb29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728a8d2-fce2-4ead-88e1-13feca96807a"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9bebb09-77ff-4d7e-bbb3-0e6a0d0ddf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fd562ab-6fec-428b-a302-5f90242bb599}" ma:internalName="TaxCatchAll" ma:showField="CatchAllData" ma:web="19bebb09-77ff-4d7e-bbb3-0e6a0d0ddf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B4463-4FE4-4A76-88A1-DD3CF801C29B}">
  <ds:schemaRefs>
    <ds:schemaRef ds:uri="19bebb09-77ff-4d7e-bbb3-0e6a0d0ddf26"/>
    <ds:schemaRef ds:uri="a885e660-3154-479b-9d72-8fc522eb29fd"/>
    <ds:schemaRef ds:uri="http://schemas.microsoft.com/office/2006/documentManagement/types"/>
    <ds:schemaRef ds:uri="http://www.w3.org/XML/1998/namespace"/>
    <ds:schemaRef ds:uri="http://purl.org/dc/term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0F543DA0-2339-41DC-99A0-AC4A918F7D94}"/>
</file>

<file path=customXml/itemProps3.xml><?xml version="1.0" encoding="utf-8"?>
<ds:datastoreItem xmlns:ds="http://schemas.openxmlformats.org/officeDocument/2006/customXml" ds:itemID="{1F14ADB9-9576-4241-B798-133832A2CC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637</TotalTime>
  <Words>281</Words>
  <Application>Microsoft Office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Lato</vt:lpstr>
      <vt:lpstr>Wingdings</vt:lpstr>
      <vt:lpstr>Office Theme</vt:lpstr>
      <vt:lpstr>Breast Cancer Stage Classification with miRNA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lastModifiedBy>Anika Baro Villa</cp:lastModifiedBy>
  <cp:revision>27</cp:revision>
  <dcterms:created xsi:type="dcterms:W3CDTF">2021-11-24T20:51:02Z</dcterms:created>
  <dcterms:modified xsi:type="dcterms:W3CDTF">2025-11-30T18:03:57Z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0x01010061ADFE83415AEC498AB6EC5120ABBD1F</vt:lpwstr>
  </property>
  <property fmtid="{D5CDD505-2E9C-101B-9397-08002B2CF9AE}" pid="3" name="MediaServiceImageTags">
    <vt:lpwstr/>
  </property>
</Properties>
</file>